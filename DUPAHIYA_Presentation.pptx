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8670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j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594360" cy="914400"/>
          </a:xfrm>
          <a:prstGeom prst="rect">
            <a:avLst/>
          </a:prstGeom>
        </p:spPr>
      </p:pic>
      <p:pic>
        <p:nvPicPr>
          <p:cNvPr id="3" name="Image 1" descr="/home/claude/e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5720"/>
            <a:ext cx="731520" cy="8686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22960" y="1463040"/>
            <a:ext cx="74980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0A0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822960" y="160020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822960" y="226771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 err="1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Vjti</a:t>
            </a:r>
            <a:r>
              <a:rPr lang="en-US" sz="2000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Chatbot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2286000" y="2788920"/>
            <a:ext cx="4572000" cy="0"/>
          </a:xfrm>
          <a:prstGeom prst="line">
            <a:avLst/>
          </a:prstGeom>
          <a:noFill/>
          <a:ln w="10160">
            <a:solidFill>
              <a:srgbClr val="00B0A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22960" y="28803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Puru Brahmankar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Bhalekar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22960" y="35204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Engineering Department  |  VJTI, Mumbai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j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594360" cy="914400"/>
          </a:xfrm>
          <a:prstGeom prst="rect">
            <a:avLst/>
          </a:prstGeom>
        </p:spPr>
      </p:pic>
      <p:pic>
        <p:nvPicPr>
          <p:cNvPr id="3" name="Image 1" descr="/home/claude/e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5720"/>
            <a:ext cx="731520" cy="8686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" y="164592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365760" y="987552"/>
            <a:ext cx="5303520" cy="38587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B0A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1005840"/>
            <a:ext cx="5029200" cy="3749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mobility in India faces 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congestion, rising carbon emissions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inefficient short-distance transport — existing solutions are costly, unsustainable, or not optimised for compact urban navigation.</a:t>
            </a:r>
            <a:endParaRPr lang="en-US" sz="13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DUPAHIYA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aims to design a two-wheeled horizontal self-balancing personal transporter promoting 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and efficient urban mobility.</a:t>
            </a:r>
            <a:endParaRPr lang="en-US" sz="13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control strategies are implemented and compared: 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PID, LQR, and Fuzzy Logic Control (FLC)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evaluating stability, responsiveness, and energy efficiency.</a:t>
            </a:r>
            <a:endParaRPr lang="en-US" sz="13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"Made in India" approach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cost-effective, locally manufacturable, reducing dependency on imported technologies.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943600" y="1005840"/>
            <a:ext cx="2834640" cy="1143000"/>
          </a:xfrm>
          <a:prstGeom prst="rect">
            <a:avLst/>
          </a:prstGeom>
          <a:solidFill>
            <a:srgbClr val="E3F2FD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10972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🚗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6675120" y="11430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943600" y="2331720"/>
            <a:ext cx="2834640" cy="1143000"/>
          </a:xfrm>
          <a:prstGeom prst="rect">
            <a:avLst/>
          </a:prstGeom>
          <a:solidFill>
            <a:srgbClr val="E8F5E9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989320" y="242316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🌿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6675120" y="24688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943600" y="3657600"/>
            <a:ext cx="2834640" cy="1143000"/>
          </a:xfrm>
          <a:prstGeom prst="rect">
            <a:avLst/>
          </a:prstGeom>
          <a:solidFill>
            <a:srgbClr val="FFF3E0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89320" y="37490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6675120" y="37947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Indigenous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j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594360" cy="914400"/>
          </a:xfrm>
          <a:prstGeom prst="rect">
            <a:avLst/>
          </a:prstGeom>
        </p:spPr>
      </p:pic>
      <p:pic>
        <p:nvPicPr>
          <p:cNvPr id="3" name="Image 1" descr="/home/claude/e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5720"/>
            <a:ext cx="731520" cy="8686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" y="164592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Plan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320040" y="914400"/>
            <a:ext cx="2743200" cy="3931920"/>
          </a:xfrm>
          <a:prstGeom prst="rect">
            <a:avLst/>
          </a:prstGeom>
          <a:solidFill>
            <a:srgbClr val="E3F2FD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411480" y="1005840"/>
            <a:ext cx="548640" cy="5486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11480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393192" y="1600200"/>
            <a:ext cx="26060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Design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Power Architecture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93192" y="2331720"/>
            <a:ext cx="2606040" cy="2423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management &amp; voltage regulation for high-torque BLDC motors</a:t>
            </a:r>
            <a:endParaRPr lang="en-US" sz="11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 design with high-frequency PWM switching + regenerative braking</a:t>
            </a:r>
            <a:endParaRPr lang="en-US" sz="11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9-axis IMU sensor fusion with Kalman filters for clean tilt data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64408" y="914400"/>
            <a:ext cx="2743200" cy="3931920"/>
          </a:xfrm>
          <a:prstGeom prst="rect">
            <a:avLst/>
          </a:prstGeom>
          <a:solidFill>
            <a:srgbClr val="E8F5E9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355848" y="1005840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355848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37560" y="1600200"/>
            <a:ext cx="26060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&amp;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Algorithms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37560" y="2331720"/>
            <a:ext cx="2606040" cy="2423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State-space mathematical modelling (inverted pendulum)</a:t>
            </a:r>
            <a:endParaRPr lang="en-US" sz="11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— error correction loops</a:t>
            </a:r>
            <a:endParaRPr lang="en-US" sz="11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LQR — optimal multi-variable state-feedback</a:t>
            </a:r>
            <a:endParaRPr lang="en-US" sz="11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Logic — handles non-linearities &amp; load variation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08776" y="914400"/>
            <a:ext cx="2743200" cy="3931920"/>
          </a:xfrm>
          <a:prstGeom prst="rect">
            <a:avLst/>
          </a:prstGeom>
          <a:solidFill>
            <a:srgbClr val="FFF3E0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00216" y="1005840"/>
            <a:ext cx="548640" cy="54864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300216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281928" y="1600200"/>
            <a:ext cx="26060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Analysis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281928" y="2331720"/>
            <a:ext cx="2606040" cy="2423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Settling time &amp; steady-state error across control schemes</a:t>
            </a:r>
            <a:endParaRPr lang="en-US" sz="11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draw monitoring — stationary vs active transit</a:t>
            </a:r>
            <a:endParaRPr lang="en-US" sz="11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"Cost of transport" benchmarking for battery range optimisation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j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594360" cy="914400"/>
          </a:xfrm>
          <a:prstGeom prst="rect">
            <a:avLst/>
          </a:prstGeom>
        </p:spPr>
      </p:pic>
      <p:pic>
        <p:nvPicPr>
          <p:cNvPr id="3" name="Image 1" descr="/home/claude/e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5720"/>
            <a:ext cx="731520" cy="8686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" y="164592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Progress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320040" y="960120"/>
            <a:ext cx="8503920" cy="1234440"/>
          </a:xfrm>
          <a:prstGeom prst="rect">
            <a:avLst/>
          </a:prstGeom>
          <a:solidFill>
            <a:srgbClr val="E3F2FD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320040" y="960120"/>
            <a:ext cx="1005840" cy="1234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960120"/>
            <a:ext cx="1005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41732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Reverse Engineering &amp; Modification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417320" y="13716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Decommissioned stock Segway motherboard → direct BLDC hub motor interface. Integrated 2× JYQD v7.3e2 ESCs with Hall Sensor feedback. Teensy 4.1 deployed as primary flight controller for high-frequency loops.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0040" y="2350008"/>
            <a:ext cx="8503920" cy="1234440"/>
          </a:xfrm>
          <a:prstGeom prst="rect">
            <a:avLst/>
          </a:prstGeom>
          <a:solidFill>
            <a:srgbClr val="E8F5E9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20040" y="2350008"/>
            <a:ext cx="1005840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20040" y="2350008"/>
            <a:ext cx="1005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417320" y="24414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&amp; State Estimation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17320" y="2761488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9250 (9-DOF) interfaced via I²C for real-time orientation. Sensor fusion implemented to extract stable Pitch &amp; Roll data, filtering mechanical vibrations and centrifugal accelerations.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20040" y="3739896"/>
            <a:ext cx="8503920" cy="1234440"/>
          </a:xfrm>
          <a:prstGeom prst="rect">
            <a:avLst/>
          </a:prstGeom>
          <a:solidFill>
            <a:srgbClr val="FFF3E0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20040" y="3739896"/>
            <a:ext cx="1005840" cy="12344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20040" y="3739896"/>
            <a:ext cx="1005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17320" y="383133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System Implementation (PID)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417320" y="4151376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PID algorithm translates angular error → motor PWM commands. P: immediate tilt response  |  I: corrects steady-state lean  |  D: dampens oscillations. Loop optimised to 100–200 Hz for real-time responsiveness.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j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594360" cy="914400"/>
          </a:xfrm>
          <a:prstGeom prst="rect">
            <a:avLst/>
          </a:prstGeom>
        </p:spPr>
      </p:pic>
      <p:pic>
        <p:nvPicPr>
          <p:cNvPr id="3" name="Image 1" descr="/home/claude/e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5720"/>
            <a:ext cx="731520" cy="8686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" y="164592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Stage &amp; Key Focus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320040" y="914400"/>
            <a:ext cx="5394960" cy="1234440"/>
          </a:xfrm>
          <a:prstGeom prst="rect">
            <a:avLst/>
          </a:prstGeom>
          <a:solidFill>
            <a:srgbClr val="E3F2FD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384048" y="1234440"/>
            <a:ext cx="548640" cy="5486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84048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024128" y="9875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Balancing (Closed-Loop)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024128" y="1353312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 → pitch angle extraction → error vs 0° setpoint → PWM correction. High-speed loop ensures instantaneous motor response.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0040" y="2304288"/>
            <a:ext cx="5394960" cy="1234440"/>
          </a:xfrm>
          <a:prstGeom prst="rect">
            <a:avLst/>
          </a:prstGeom>
          <a:solidFill>
            <a:srgbClr val="E8F5E9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84048" y="2624328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84048" y="2624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024128" y="23774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Algorithm Comparison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24128" y="274320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(baseline)  vs  LQR (optimal state-feedback)  vs  Fuzzy Logic (non-linearity handling). Metrics: settling time, steady-state error, energy consumption.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20040" y="3694176"/>
            <a:ext cx="5394960" cy="1234440"/>
          </a:xfrm>
          <a:prstGeom prst="rect">
            <a:avLst/>
          </a:prstGeom>
          <a:solidFill>
            <a:srgbClr val="FFF3E0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84048" y="4014216"/>
            <a:ext cx="548640" cy="54864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84048" y="40142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024128" y="37673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Tuning &amp; Diagnostics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024128" y="4133088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Kp → shaking  |  Low Kp → sluggish  |  Missing Kd → overshoot  |  Required Ki → eliminates steady-state drift. Systematic bench testing for optimal gain set.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943600" y="914400"/>
            <a:ext cx="2880360" cy="39319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035040" y="10515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6263640" y="1737360"/>
            <a:ext cx="2286000" cy="0"/>
          </a:xfrm>
          <a:prstGeom prst="line">
            <a:avLst/>
          </a:prstGeom>
          <a:noFill/>
          <a:ln w="19050">
            <a:solidFill>
              <a:srgbClr val="00B0A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989320" y="1828800"/>
            <a:ext cx="2788920" cy="2834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LQR &amp; Fuzzy Logic vs standard PID
Determine optimal balance between:
✦  Computational overhead
✦  Battery longevity
✦  Stability performance
</a:t>
            </a:r>
            <a:endParaRPr lang="en-US" sz="115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Indigenous low-cost platform ready for real-world deployment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496</Words>
  <Application>Microsoft Office PowerPoint</Application>
  <PresentationFormat>On-screen Show (16:9)</PresentationFormat>
  <Paragraphs>71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DUPAHIYA - 2 Wheeled Self Balancing E-Scooter</dc:title>
  <dc:subject>PptxGenJS Presentation</dc:subject>
  <dc:creator>PptxGenJS</dc:creator>
  <cp:lastModifiedBy>Puru Brahmankar</cp:lastModifiedBy>
  <cp:revision>2</cp:revision>
  <dcterms:created xsi:type="dcterms:W3CDTF">2026-04-22T19:26:53Z</dcterms:created>
  <dcterms:modified xsi:type="dcterms:W3CDTF">2026-04-22T20:00:12Z</dcterms:modified>
</cp:coreProperties>
</file>